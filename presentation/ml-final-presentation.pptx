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Montserrat"/>
      <p:regular r:id="rId23"/>
      <p:bold r:id="rId24"/>
      <p:italic r:id="rId25"/>
      <p:boldItalic r:id="rId26"/>
    </p:embeddedFont>
    <p:embeddedFont>
      <p:font typeface="La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La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25d1f8929c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25d1f8929c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25d1f8929c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25d1f8929c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25d1f8929c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25d1f8929c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25d1f8929c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25d1f8929c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25d1f8929c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25d1f8929c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25d1f8929c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25d1f8929c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25d1f8929c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25d1f8929c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25d1f8929c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25d1f8929c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25d1f8929c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25d1f8929c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25d1f8929c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25d1f8929c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25d1f8929c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25d1f8929c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25d1f8929c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25d1f8929c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25d1f8929c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25d1f8929c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25d1f8929c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25d1f8929c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25d1f8929c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25d1f8929c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25d1f8929c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25d1f8929c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2775950" y="284375"/>
            <a:ext cx="6012600" cy="2134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4400">
                <a:highlight>
                  <a:schemeClr val="dk1"/>
                </a:highlight>
                <a:latin typeface="Calibri"/>
                <a:ea typeface="Calibri"/>
                <a:cs typeface="Calibri"/>
                <a:sym typeface="Calibri"/>
              </a:rPr>
              <a:t>Predicting Medical Insurance Costs Using Personal Attributes</a:t>
            </a:r>
            <a:endParaRPr sz="4400">
              <a:highlight>
                <a:schemeClr val="dk1"/>
              </a:highlight>
              <a:latin typeface="Calibri"/>
              <a:ea typeface="Calibri"/>
              <a:cs typeface="Calibri"/>
              <a:sym typeface="Calibri"/>
            </a:endParaRPr>
          </a:p>
          <a:p>
            <a:pPr indent="0" lvl="0" marL="0" rtl="0" algn="l">
              <a:spcBef>
                <a:spcPts val="0"/>
              </a:spcBef>
              <a:spcAft>
                <a:spcPts val="0"/>
              </a:spcAft>
              <a:buNone/>
            </a:pPr>
            <a:r>
              <a:t/>
            </a:r>
            <a:endParaRPr>
              <a:highlight>
                <a:schemeClr val="dk1"/>
              </a:highlight>
            </a:endParaRPr>
          </a:p>
        </p:txBody>
      </p:sp>
      <p:sp>
        <p:nvSpPr>
          <p:cNvPr id="135" name="Google Shape;135;p13"/>
          <p:cNvSpPr txBox="1"/>
          <p:nvPr>
            <p:ph idx="1" type="subTitle"/>
          </p:nvPr>
        </p:nvSpPr>
        <p:spPr>
          <a:xfrm>
            <a:off x="3112200" y="2755525"/>
            <a:ext cx="5442300" cy="1675500"/>
          </a:xfrm>
          <a:prstGeom prst="rect">
            <a:avLst/>
          </a:prstGeom>
        </p:spPr>
        <p:txBody>
          <a:bodyPr anchorCtr="0" anchor="t" bIns="91425" lIns="91425" spcFirstLastPara="1" rIns="91425" wrap="square" tIns="91425">
            <a:normAutofit fontScale="70000" lnSpcReduction="10000"/>
          </a:bodyPr>
          <a:lstStyle/>
          <a:p>
            <a:pPr indent="0" lvl="0" marL="0" rtl="0" algn="ctr">
              <a:spcBef>
                <a:spcPts val="0"/>
              </a:spcBef>
              <a:spcAft>
                <a:spcPts val="0"/>
              </a:spcAft>
              <a:buClr>
                <a:srgbClr val="888888"/>
              </a:buClr>
              <a:buSzPct val="100000"/>
              <a:buFont typeface="Arial"/>
              <a:buNone/>
            </a:pPr>
            <a:r>
              <a:rPr lang="en" sz="3200">
                <a:latin typeface="Calibri"/>
                <a:ea typeface="Calibri"/>
                <a:cs typeface="Calibri"/>
                <a:sym typeface="Calibri"/>
              </a:rPr>
              <a:t>Shubhankan Shinde</a:t>
            </a:r>
            <a:endParaRPr sz="3200">
              <a:latin typeface="Calibri"/>
              <a:ea typeface="Calibri"/>
              <a:cs typeface="Calibri"/>
              <a:sym typeface="Calibri"/>
            </a:endParaRPr>
          </a:p>
          <a:p>
            <a:pPr indent="0" lvl="0" marL="0" rtl="0" algn="ctr">
              <a:spcBef>
                <a:spcPts val="640"/>
              </a:spcBef>
              <a:spcAft>
                <a:spcPts val="0"/>
              </a:spcAft>
              <a:buClr>
                <a:srgbClr val="888888"/>
              </a:buClr>
              <a:buSzPct val="100000"/>
              <a:buFont typeface="Arial"/>
              <a:buNone/>
            </a:pPr>
            <a:r>
              <a:rPr lang="en" sz="3200">
                <a:latin typeface="Calibri"/>
                <a:ea typeface="Calibri"/>
                <a:cs typeface="Calibri"/>
                <a:sym typeface="Calibri"/>
              </a:rPr>
              <a:t>INT 6203 - Introduction to Machine Learning</a:t>
            </a:r>
            <a:endParaRPr sz="3200">
              <a:latin typeface="Calibri"/>
              <a:ea typeface="Calibri"/>
              <a:cs typeface="Calibri"/>
              <a:sym typeface="Calibri"/>
            </a:endParaRPr>
          </a:p>
          <a:p>
            <a:pPr indent="0" lvl="0" marL="0" rtl="0" algn="ctr">
              <a:spcBef>
                <a:spcPts val="640"/>
              </a:spcBef>
              <a:spcAft>
                <a:spcPts val="0"/>
              </a:spcAft>
              <a:buClr>
                <a:srgbClr val="888888"/>
              </a:buClr>
              <a:buSzPct val="100000"/>
              <a:buFont typeface="Arial"/>
              <a:buNone/>
            </a:pPr>
            <a:r>
              <a:rPr lang="en" sz="3200">
                <a:latin typeface="Calibri"/>
                <a:ea typeface="Calibri"/>
                <a:cs typeface="Calibri"/>
                <a:sym typeface="Calibri"/>
              </a:rPr>
              <a:t>Prof. Dr. Kamel Rushaidat</a:t>
            </a:r>
            <a:endParaRPr sz="3200">
              <a:latin typeface="Calibri"/>
              <a:ea typeface="Calibri"/>
              <a:cs typeface="Calibri"/>
              <a:sym typeface="Calibri"/>
            </a:endParaRPr>
          </a:p>
          <a:p>
            <a:pPr indent="0" lvl="0" marL="0" rtl="0" algn="ctr">
              <a:spcBef>
                <a:spcPts val="640"/>
              </a:spcBef>
              <a:spcAft>
                <a:spcPts val="0"/>
              </a:spcAft>
              <a:buClr>
                <a:srgbClr val="888888"/>
              </a:buClr>
              <a:buSzPct val="100000"/>
              <a:buFont typeface="Arial"/>
              <a:buNone/>
            </a:pPr>
            <a:r>
              <a:rPr lang="en" sz="3200">
                <a:latin typeface="Calibri"/>
                <a:ea typeface="Calibri"/>
                <a:cs typeface="Calibri"/>
                <a:sym typeface="Calibri"/>
              </a:rPr>
              <a:t>Date: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4263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Clr>
                <a:srgbClr val="000000"/>
              </a:buClr>
              <a:buSzPts val="4400"/>
              <a:buFont typeface="Calibri"/>
              <a:buNone/>
            </a:pPr>
            <a:r>
              <a:rPr lang="en" sz="4400">
                <a:latin typeface="Calibri"/>
                <a:ea typeface="Calibri"/>
                <a:cs typeface="Calibri"/>
                <a:sym typeface="Calibri"/>
              </a:rPr>
              <a:t>Introduction</a:t>
            </a:r>
            <a:endParaRPr sz="4400">
              <a:latin typeface="Calibri"/>
              <a:ea typeface="Calibri"/>
              <a:cs typeface="Calibri"/>
              <a:sym typeface="Calibri"/>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lang="en" sz="1500">
                <a:latin typeface="Arial"/>
                <a:ea typeface="Arial"/>
                <a:cs typeface="Arial"/>
                <a:sym typeface="Arial"/>
              </a:rPr>
              <a:t>In this project, my goal is to predict the medical insurance costs of individuals based on various demographic and health attributes. This task is crucial for insurance companies because it helps in efficiently assessing and predicting client premiums. By leveraging machine learning, I aim to identify the factors that significantly influence insurance charges and develop a strong model for accurate cost prediction.</a:t>
            </a:r>
            <a:endParaRPr sz="1500">
              <a:latin typeface="Arial"/>
              <a:ea typeface="Arial"/>
              <a:cs typeface="Arial"/>
              <a:sym typeface="Arial"/>
            </a:endParaRPr>
          </a:p>
          <a:p>
            <a:pPr indent="-342900" lvl="0" marL="342900" rtl="0" algn="l">
              <a:lnSpc>
                <a:spcPct val="100000"/>
              </a:lnSpc>
              <a:spcBef>
                <a:spcPts val="1200"/>
              </a:spcBef>
              <a:spcAft>
                <a:spcPts val="0"/>
              </a:spcAft>
              <a:buClr>
                <a:schemeClr val="lt1"/>
              </a:buClr>
              <a:buSzPts val="1800"/>
              <a:buFont typeface="Arial"/>
              <a:buChar char="•"/>
            </a:pPr>
            <a:r>
              <a:rPr lang="en" sz="1800">
                <a:latin typeface="Calibri"/>
                <a:ea typeface="Calibri"/>
                <a:cs typeface="Calibri"/>
                <a:sym typeface="Calibri"/>
              </a:rPr>
              <a:t>Objectives:</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Build a model to predict insurance charges.</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Identify key factors influencing insurance costs.</a:t>
            </a:r>
            <a:endParaRPr sz="3200">
              <a:latin typeface="Calibri"/>
              <a:ea typeface="Calibri"/>
              <a:cs typeface="Calibri"/>
              <a:sym typeface="Calibri"/>
            </a:endParaRPr>
          </a:p>
          <a:p>
            <a:pPr indent="0" lvl="0" marL="0" rtl="0" algn="l">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rgbClr val="000000"/>
              </a:buClr>
              <a:buSzPct val="100000"/>
              <a:buFont typeface="Calibri"/>
              <a:buNone/>
            </a:pPr>
            <a:r>
              <a:rPr lang="en" sz="4400">
                <a:latin typeface="Calibri"/>
                <a:ea typeface="Calibri"/>
                <a:cs typeface="Calibri"/>
                <a:sym typeface="Calibri"/>
              </a:rPr>
              <a:t>Data Overview</a:t>
            </a:r>
            <a:endParaRPr sz="4400">
              <a:latin typeface="Calibri"/>
              <a:ea typeface="Calibri"/>
              <a:cs typeface="Calibri"/>
              <a:sym typeface="Calibri"/>
            </a:endParaRPr>
          </a:p>
          <a:p>
            <a:pPr indent="0" lvl="0" marL="0" rtl="0" algn="l">
              <a:spcBef>
                <a:spcPts val="0"/>
              </a:spcBef>
              <a:spcAft>
                <a:spcPts val="0"/>
              </a:spcAft>
              <a:buNone/>
            </a:pPr>
            <a:r>
              <a:t/>
            </a:r>
            <a:endParaRPr/>
          </a:p>
        </p:txBody>
      </p:sp>
      <p:sp>
        <p:nvSpPr>
          <p:cNvPr id="147" name="Google Shape;147;p15"/>
          <p:cNvSpPr txBox="1"/>
          <p:nvPr>
            <p:ph idx="1" type="body"/>
          </p:nvPr>
        </p:nvSpPr>
        <p:spPr>
          <a:xfrm>
            <a:off x="-61750" y="1491425"/>
            <a:ext cx="7038900" cy="2911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b="1" lang="en" sz="1396">
                <a:latin typeface="Arial"/>
                <a:ea typeface="Arial"/>
                <a:cs typeface="Arial"/>
                <a:sym typeface="Arial"/>
              </a:rPr>
              <a:t>Shape</a:t>
            </a:r>
            <a:r>
              <a:rPr lang="en" sz="1396">
                <a:latin typeface="Arial"/>
                <a:ea typeface="Arial"/>
                <a:cs typeface="Arial"/>
                <a:sym typeface="Arial"/>
              </a:rPr>
              <a:t>: 1338 rows, 7 columns.</a:t>
            </a:r>
            <a:endParaRPr sz="1396">
              <a:latin typeface="Arial"/>
              <a:ea typeface="Arial"/>
              <a:cs typeface="Arial"/>
              <a:sym typeface="Arial"/>
            </a:endParaRPr>
          </a:p>
          <a:p>
            <a:pPr indent="0" lvl="0" marL="0" rtl="0" algn="l">
              <a:lnSpc>
                <a:spcPct val="95000"/>
              </a:lnSpc>
              <a:spcBef>
                <a:spcPts val="1200"/>
              </a:spcBef>
              <a:spcAft>
                <a:spcPts val="0"/>
              </a:spcAft>
              <a:buSzPts val="935"/>
              <a:buNone/>
            </a:pPr>
            <a:r>
              <a:rPr b="1" lang="en" sz="1396">
                <a:latin typeface="Arial"/>
                <a:ea typeface="Arial"/>
                <a:cs typeface="Arial"/>
                <a:sym typeface="Arial"/>
              </a:rPr>
              <a:t>Data Types</a:t>
            </a:r>
            <a:r>
              <a:rPr lang="en" sz="1396">
                <a:latin typeface="Arial"/>
                <a:ea typeface="Arial"/>
                <a:cs typeface="Arial"/>
                <a:sym typeface="Arial"/>
              </a:rPr>
              <a:t>:</a:t>
            </a:r>
            <a:endParaRPr sz="1396">
              <a:latin typeface="Arial"/>
              <a:ea typeface="Arial"/>
              <a:cs typeface="Arial"/>
              <a:sym typeface="Arial"/>
            </a:endParaRPr>
          </a:p>
          <a:p>
            <a:pPr indent="-317302" lvl="0" marL="457200" rtl="0" algn="l">
              <a:lnSpc>
                <a:spcPct val="95000"/>
              </a:lnSpc>
              <a:spcBef>
                <a:spcPts val="1200"/>
              </a:spcBef>
              <a:spcAft>
                <a:spcPts val="0"/>
              </a:spcAft>
              <a:buClr>
                <a:schemeClr val="lt1"/>
              </a:buClr>
              <a:buSzPts val="1397"/>
              <a:buFont typeface="Arial"/>
              <a:buChar char="●"/>
            </a:pPr>
            <a:r>
              <a:rPr lang="en" sz="1396">
                <a:latin typeface="Arial"/>
                <a:ea typeface="Arial"/>
                <a:cs typeface="Arial"/>
                <a:sym typeface="Arial"/>
              </a:rPr>
              <a:t>Numerical: age, bmi, children, charges</a:t>
            </a:r>
            <a:endParaRPr sz="1396">
              <a:latin typeface="Arial"/>
              <a:ea typeface="Arial"/>
              <a:cs typeface="Arial"/>
              <a:sym typeface="Arial"/>
            </a:endParaRPr>
          </a:p>
          <a:p>
            <a:pPr indent="-317302" lvl="0" marL="457200" rtl="0" algn="l">
              <a:lnSpc>
                <a:spcPct val="95000"/>
              </a:lnSpc>
              <a:spcBef>
                <a:spcPts val="0"/>
              </a:spcBef>
              <a:spcAft>
                <a:spcPts val="0"/>
              </a:spcAft>
              <a:buClr>
                <a:schemeClr val="lt1"/>
              </a:buClr>
              <a:buSzPts val="1397"/>
              <a:buFont typeface="Arial"/>
              <a:buChar char="●"/>
            </a:pPr>
            <a:r>
              <a:rPr lang="en" sz="1396">
                <a:latin typeface="Arial"/>
                <a:ea typeface="Arial"/>
                <a:cs typeface="Arial"/>
                <a:sym typeface="Arial"/>
              </a:rPr>
              <a:t>Categorical: sex, smoker, region</a:t>
            </a:r>
            <a:endParaRPr sz="1396">
              <a:latin typeface="Arial"/>
              <a:ea typeface="Arial"/>
              <a:cs typeface="Arial"/>
              <a:sym typeface="Arial"/>
            </a:endParaRPr>
          </a:p>
          <a:p>
            <a:pPr indent="0" lvl="0" marL="0" rtl="0" algn="l">
              <a:lnSpc>
                <a:spcPct val="95000"/>
              </a:lnSpc>
              <a:spcBef>
                <a:spcPts val="1200"/>
              </a:spcBef>
              <a:spcAft>
                <a:spcPts val="0"/>
              </a:spcAft>
              <a:buSzPts val="935"/>
              <a:buNone/>
            </a:pPr>
            <a:r>
              <a:rPr b="1" lang="en" sz="1396">
                <a:latin typeface="Arial"/>
                <a:ea typeface="Arial"/>
                <a:cs typeface="Arial"/>
                <a:sym typeface="Arial"/>
              </a:rPr>
              <a:t>Missing Values</a:t>
            </a:r>
            <a:r>
              <a:rPr lang="en" sz="1396">
                <a:latin typeface="Arial"/>
                <a:ea typeface="Arial"/>
                <a:cs typeface="Arial"/>
                <a:sym typeface="Arial"/>
              </a:rPr>
              <a:t>: None (all columns have 1338 non-null entries).</a:t>
            </a:r>
            <a:endParaRPr sz="1396">
              <a:latin typeface="Arial"/>
              <a:ea typeface="Arial"/>
              <a:cs typeface="Arial"/>
              <a:sym typeface="Arial"/>
            </a:endParaRPr>
          </a:p>
          <a:p>
            <a:pPr indent="0" lvl="0" marL="0" rtl="0" algn="l">
              <a:lnSpc>
                <a:spcPct val="95000"/>
              </a:lnSpc>
              <a:spcBef>
                <a:spcPts val="0"/>
              </a:spcBef>
              <a:spcAft>
                <a:spcPts val="0"/>
              </a:spcAft>
              <a:buSzPts val="935"/>
              <a:buNone/>
            </a:pPr>
            <a:r>
              <a:rPr b="1" lang="en" sz="1396">
                <a:latin typeface="Arial"/>
                <a:ea typeface="Arial"/>
                <a:cs typeface="Arial"/>
                <a:sym typeface="Arial"/>
              </a:rPr>
              <a:t>Memory Usage</a:t>
            </a:r>
            <a:r>
              <a:rPr lang="en" sz="1396">
                <a:latin typeface="Arial"/>
                <a:ea typeface="Arial"/>
                <a:cs typeface="Arial"/>
                <a:sym typeface="Arial"/>
              </a:rPr>
              <a:t>: 73.3 KB.</a:t>
            </a:r>
            <a:endParaRPr sz="1396">
              <a:latin typeface="Arial"/>
              <a:ea typeface="Arial"/>
              <a:cs typeface="Arial"/>
              <a:sym typeface="Arial"/>
            </a:endParaRPr>
          </a:p>
          <a:p>
            <a:pPr indent="0" lvl="0" marL="0" rtl="0" algn="l">
              <a:lnSpc>
                <a:spcPct val="95000"/>
              </a:lnSpc>
              <a:spcBef>
                <a:spcPts val="1200"/>
              </a:spcBef>
              <a:spcAft>
                <a:spcPts val="0"/>
              </a:spcAft>
              <a:buSzPts val="935"/>
              <a:buNone/>
            </a:pPr>
            <a:r>
              <a:rPr b="1" lang="en" sz="1396">
                <a:latin typeface="Arial"/>
                <a:ea typeface="Arial"/>
                <a:cs typeface="Arial"/>
                <a:sym typeface="Arial"/>
              </a:rPr>
              <a:t>Summary</a:t>
            </a:r>
            <a:r>
              <a:rPr lang="en" sz="1396">
                <a:latin typeface="Arial"/>
                <a:ea typeface="Arial"/>
                <a:cs typeface="Arial"/>
                <a:sym typeface="Arial"/>
              </a:rPr>
              <a:t>:</a:t>
            </a:r>
            <a:endParaRPr sz="1396">
              <a:latin typeface="Arial"/>
              <a:ea typeface="Arial"/>
              <a:cs typeface="Arial"/>
              <a:sym typeface="Arial"/>
            </a:endParaRPr>
          </a:p>
          <a:p>
            <a:pPr indent="-317302" lvl="0" marL="457200" rtl="0" algn="l">
              <a:lnSpc>
                <a:spcPct val="95000"/>
              </a:lnSpc>
              <a:spcBef>
                <a:spcPts val="1200"/>
              </a:spcBef>
              <a:spcAft>
                <a:spcPts val="0"/>
              </a:spcAft>
              <a:buClr>
                <a:schemeClr val="lt1"/>
              </a:buClr>
              <a:buSzPts val="1397"/>
              <a:buFont typeface="Arial"/>
              <a:buChar char="●"/>
            </a:pPr>
            <a:r>
              <a:rPr lang="en" sz="1396">
                <a:latin typeface="Arial"/>
                <a:ea typeface="Arial"/>
                <a:cs typeface="Arial"/>
                <a:sym typeface="Arial"/>
              </a:rPr>
              <a:t>charges is the target column (insurance cost).</a:t>
            </a:r>
            <a:endParaRPr sz="1396">
              <a:latin typeface="Arial"/>
              <a:ea typeface="Arial"/>
              <a:cs typeface="Arial"/>
              <a:sym typeface="Arial"/>
            </a:endParaRPr>
          </a:p>
          <a:p>
            <a:pPr indent="-317302" lvl="0" marL="457200" rtl="0" algn="l">
              <a:lnSpc>
                <a:spcPct val="95000"/>
              </a:lnSpc>
              <a:spcBef>
                <a:spcPts val="0"/>
              </a:spcBef>
              <a:spcAft>
                <a:spcPts val="0"/>
              </a:spcAft>
              <a:buClr>
                <a:schemeClr val="lt1"/>
              </a:buClr>
              <a:buSzPts val="1397"/>
              <a:buFont typeface="Arial"/>
              <a:buChar char="●"/>
            </a:pPr>
            <a:r>
              <a:rPr lang="en" sz="1396">
                <a:latin typeface="Arial"/>
                <a:ea typeface="Arial"/>
                <a:cs typeface="Arial"/>
                <a:sym typeface="Arial"/>
              </a:rPr>
              <a:t>Clean dataset with mixed data types, ready for analysis.</a:t>
            </a:r>
            <a:endParaRPr sz="1396">
              <a:latin typeface="Arial"/>
              <a:ea typeface="Arial"/>
              <a:cs typeface="Arial"/>
              <a:sym typeface="Arial"/>
            </a:endParaRPr>
          </a:p>
          <a:p>
            <a:pPr indent="0" lvl="0" marL="0" rtl="0" algn="l">
              <a:lnSpc>
                <a:spcPct val="95000"/>
              </a:lnSpc>
              <a:spcBef>
                <a:spcPts val="1200"/>
              </a:spcBef>
              <a:spcAft>
                <a:spcPts val="1200"/>
              </a:spcAft>
              <a:buSzPts val="935"/>
              <a:buNone/>
            </a:pPr>
            <a:r>
              <a:t/>
            </a:r>
            <a:endParaRPr sz="1105"/>
          </a:p>
        </p:txBody>
      </p:sp>
      <p:pic>
        <p:nvPicPr>
          <p:cNvPr id="148" name="Google Shape;148;p15"/>
          <p:cNvPicPr preferRelativeResize="0"/>
          <p:nvPr/>
        </p:nvPicPr>
        <p:blipFill>
          <a:blip r:embed="rId3">
            <a:alphaModFix/>
          </a:blip>
          <a:stretch>
            <a:fillRect/>
          </a:stretch>
        </p:blipFill>
        <p:spPr>
          <a:xfrm>
            <a:off x="5111025" y="1491425"/>
            <a:ext cx="3949375" cy="3322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rgbClr val="000000"/>
              </a:buClr>
              <a:buSzPct val="100000"/>
              <a:buFont typeface="Calibri"/>
              <a:buNone/>
            </a:pPr>
            <a:r>
              <a:rPr lang="en" sz="4400">
                <a:highlight>
                  <a:schemeClr val="dk1"/>
                </a:highlight>
                <a:latin typeface="Calibri"/>
                <a:ea typeface="Calibri"/>
                <a:cs typeface="Calibri"/>
                <a:sym typeface="Calibri"/>
              </a:rPr>
              <a:t>Exploratory Data Analysis</a:t>
            </a:r>
            <a:endParaRPr sz="4400">
              <a:highlight>
                <a:schemeClr val="dk1"/>
              </a:highlight>
              <a:latin typeface="Calibri"/>
              <a:ea typeface="Calibri"/>
              <a:cs typeface="Calibri"/>
              <a:sym typeface="Calibri"/>
            </a:endParaRPr>
          </a:p>
          <a:p>
            <a:pPr indent="0" lvl="0" marL="0" rtl="0" algn="l">
              <a:spcBef>
                <a:spcPts val="0"/>
              </a:spcBef>
              <a:spcAft>
                <a:spcPts val="0"/>
              </a:spcAft>
              <a:buNone/>
            </a:pPr>
            <a:r>
              <a:t/>
            </a:r>
            <a:endParaRPr/>
          </a:p>
        </p:txBody>
      </p:sp>
      <p:sp>
        <p:nvSpPr>
          <p:cNvPr id="154" name="Google Shape;154;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lnSpc>
                <a:spcPct val="100000"/>
              </a:lnSpc>
              <a:spcBef>
                <a:spcPts val="360"/>
              </a:spcBef>
              <a:spcAft>
                <a:spcPts val="0"/>
              </a:spcAft>
              <a:buNone/>
            </a:pPr>
            <a:r>
              <a:rPr lang="en" sz="1800">
                <a:latin typeface="Calibri"/>
                <a:ea typeface="Calibri"/>
                <a:cs typeface="Calibri"/>
                <a:sym typeface="Calibri"/>
              </a:rPr>
              <a:t>Graphs Used:</a:t>
            </a:r>
            <a:endParaRPr sz="2100">
              <a:latin typeface="Calibri"/>
              <a:ea typeface="Calibri"/>
              <a:cs typeface="Calibri"/>
              <a:sym typeface="Calibri"/>
            </a:endParaRPr>
          </a:p>
          <a:p>
            <a:pPr indent="-361950" lvl="0" marL="342900" rtl="0" algn="just">
              <a:lnSpc>
                <a:spcPct val="100000"/>
              </a:lnSpc>
              <a:spcBef>
                <a:spcPts val="360"/>
              </a:spcBef>
              <a:spcAft>
                <a:spcPts val="0"/>
              </a:spcAft>
              <a:buClr>
                <a:schemeClr val="lt1"/>
              </a:buClr>
              <a:buSzPts val="2100"/>
              <a:buFont typeface="Arial"/>
              <a:buChar char="•"/>
            </a:pPr>
            <a:r>
              <a:rPr lang="en" sz="2100">
                <a:latin typeface="Calibri"/>
                <a:ea typeface="Calibri"/>
                <a:cs typeface="Calibri"/>
                <a:sym typeface="Calibri"/>
              </a:rPr>
              <a:t>1. Histograms: Show distribution of age, BMI, and charges.</a:t>
            </a:r>
            <a:endParaRPr sz="3500">
              <a:latin typeface="Calibri"/>
              <a:ea typeface="Calibri"/>
              <a:cs typeface="Calibri"/>
              <a:sym typeface="Calibri"/>
            </a:endParaRPr>
          </a:p>
          <a:p>
            <a:pPr indent="-361950" lvl="0" marL="342900" rtl="0" algn="just">
              <a:lnSpc>
                <a:spcPct val="100000"/>
              </a:lnSpc>
              <a:spcBef>
                <a:spcPts val="360"/>
              </a:spcBef>
              <a:spcAft>
                <a:spcPts val="0"/>
              </a:spcAft>
              <a:buClr>
                <a:schemeClr val="lt1"/>
              </a:buClr>
              <a:buSzPts val="2100"/>
              <a:buFont typeface="Arial"/>
              <a:buChar char="•"/>
            </a:pPr>
            <a:r>
              <a:rPr lang="en" sz="2100">
                <a:latin typeface="Calibri"/>
                <a:ea typeface="Calibri"/>
                <a:cs typeface="Calibri"/>
                <a:sym typeface="Calibri"/>
              </a:rPr>
              <a:t>2. </a:t>
            </a:r>
            <a:r>
              <a:rPr lang="en" sz="2100">
                <a:latin typeface="Calibri"/>
                <a:ea typeface="Calibri"/>
                <a:cs typeface="Calibri"/>
                <a:sym typeface="Calibri"/>
              </a:rPr>
              <a:t>Box Plots</a:t>
            </a:r>
            <a:r>
              <a:rPr lang="en" sz="2100">
                <a:latin typeface="Calibri"/>
                <a:ea typeface="Calibri"/>
                <a:cs typeface="Calibri"/>
                <a:sym typeface="Calibri"/>
              </a:rPr>
              <a:t>: Highlight smoker status and charges.</a:t>
            </a:r>
            <a:endParaRPr sz="3500">
              <a:latin typeface="Calibri"/>
              <a:ea typeface="Calibri"/>
              <a:cs typeface="Calibri"/>
              <a:sym typeface="Calibri"/>
            </a:endParaRPr>
          </a:p>
          <a:p>
            <a:pPr indent="-361950" lvl="0" marL="342900" rtl="0" algn="just">
              <a:lnSpc>
                <a:spcPct val="100000"/>
              </a:lnSpc>
              <a:spcBef>
                <a:spcPts val="360"/>
              </a:spcBef>
              <a:spcAft>
                <a:spcPts val="0"/>
              </a:spcAft>
              <a:buClr>
                <a:schemeClr val="lt1"/>
              </a:buClr>
              <a:buSzPts val="2100"/>
              <a:buFont typeface="Arial"/>
              <a:buChar char="•"/>
            </a:pPr>
            <a:r>
              <a:rPr lang="en" sz="2100">
                <a:latin typeface="Calibri"/>
                <a:ea typeface="Calibri"/>
                <a:cs typeface="Calibri"/>
                <a:sym typeface="Calibri"/>
              </a:rPr>
              <a:t>3. Correlation Heatmap: Show relationships between numerical features.</a:t>
            </a:r>
            <a:endParaRPr sz="3500">
              <a:latin typeface="Calibri"/>
              <a:ea typeface="Calibri"/>
              <a:cs typeface="Calibri"/>
              <a:sym typeface="Calibri"/>
            </a:endParaRPr>
          </a:p>
          <a:p>
            <a:pPr indent="-361950" lvl="0" marL="342900" rtl="0" algn="just">
              <a:lnSpc>
                <a:spcPct val="100000"/>
              </a:lnSpc>
              <a:spcBef>
                <a:spcPts val="360"/>
              </a:spcBef>
              <a:spcAft>
                <a:spcPts val="0"/>
              </a:spcAft>
              <a:buClr>
                <a:schemeClr val="lt1"/>
              </a:buClr>
              <a:buSzPts val="2100"/>
              <a:buFont typeface="Arial"/>
              <a:buChar char="•"/>
            </a:pPr>
            <a:r>
              <a:rPr lang="en" sz="2100">
                <a:latin typeface="Calibri"/>
                <a:ea typeface="Calibri"/>
                <a:cs typeface="Calibri"/>
                <a:sym typeface="Calibri"/>
              </a:rPr>
              <a:t>4. Pairplot: Visualize trends like smoker status and BMI with charges.</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1297500" y="393750"/>
            <a:ext cx="5805600" cy="63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500">
                <a:latin typeface="Arial"/>
                <a:ea typeface="Arial"/>
                <a:cs typeface="Arial"/>
                <a:sym typeface="Arial"/>
              </a:rPr>
              <a:t>Histograms (Distribution of Numerical Features)</a:t>
            </a:r>
            <a:endParaRPr sz="2800"/>
          </a:p>
        </p:txBody>
      </p:sp>
      <p:pic>
        <p:nvPicPr>
          <p:cNvPr id="160" name="Google Shape;160;p17"/>
          <p:cNvPicPr preferRelativeResize="0"/>
          <p:nvPr/>
        </p:nvPicPr>
        <p:blipFill>
          <a:blip r:embed="rId3">
            <a:alphaModFix/>
          </a:blip>
          <a:stretch>
            <a:fillRect/>
          </a:stretch>
        </p:blipFill>
        <p:spPr>
          <a:xfrm>
            <a:off x="-43500" y="1137300"/>
            <a:ext cx="4471475" cy="2962275"/>
          </a:xfrm>
          <a:prstGeom prst="rect">
            <a:avLst/>
          </a:prstGeom>
          <a:noFill/>
          <a:ln>
            <a:noFill/>
          </a:ln>
        </p:spPr>
      </p:pic>
      <p:pic>
        <p:nvPicPr>
          <p:cNvPr id="161" name="Google Shape;161;p17"/>
          <p:cNvPicPr preferRelativeResize="0"/>
          <p:nvPr/>
        </p:nvPicPr>
        <p:blipFill>
          <a:blip r:embed="rId4">
            <a:alphaModFix/>
          </a:blip>
          <a:stretch>
            <a:fillRect/>
          </a:stretch>
        </p:blipFill>
        <p:spPr>
          <a:xfrm>
            <a:off x="4305300" y="1137300"/>
            <a:ext cx="4838700" cy="2962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18"/>
          <p:cNvPicPr preferRelativeResize="0"/>
          <p:nvPr/>
        </p:nvPicPr>
        <p:blipFill>
          <a:blip r:embed="rId3">
            <a:alphaModFix/>
          </a:blip>
          <a:stretch>
            <a:fillRect/>
          </a:stretch>
        </p:blipFill>
        <p:spPr>
          <a:xfrm>
            <a:off x="0" y="1237526"/>
            <a:ext cx="4572000" cy="2930762"/>
          </a:xfrm>
          <a:prstGeom prst="rect">
            <a:avLst/>
          </a:prstGeom>
          <a:noFill/>
          <a:ln>
            <a:noFill/>
          </a:ln>
        </p:spPr>
      </p:pic>
      <p:pic>
        <p:nvPicPr>
          <p:cNvPr id="167" name="Google Shape;167;p18"/>
          <p:cNvPicPr preferRelativeResize="0"/>
          <p:nvPr/>
        </p:nvPicPr>
        <p:blipFill>
          <a:blip r:embed="rId4">
            <a:alphaModFix/>
          </a:blip>
          <a:stretch>
            <a:fillRect/>
          </a:stretch>
        </p:blipFill>
        <p:spPr>
          <a:xfrm>
            <a:off x="4572000" y="1237525"/>
            <a:ext cx="4572000" cy="2930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txBox="1"/>
          <p:nvPr>
            <p:ph type="title"/>
          </p:nvPr>
        </p:nvSpPr>
        <p:spPr>
          <a:xfrm>
            <a:off x="2689400" y="219750"/>
            <a:ext cx="6454500" cy="9141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None/>
            </a:pPr>
            <a:r>
              <a:rPr b="1" lang="en" sz="1700">
                <a:latin typeface="Arial"/>
                <a:ea typeface="Arial"/>
                <a:cs typeface="Arial"/>
                <a:sym typeface="Arial"/>
              </a:rPr>
              <a:t>Boxplots for Categorical Features</a:t>
            </a:r>
            <a:endParaRPr sz="2800"/>
          </a:p>
        </p:txBody>
      </p:sp>
      <p:pic>
        <p:nvPicPr>
          <p:cNvPr id="173" name="Google Shape;173;p19"/>
          <p:cNvPicPr preferRelativeResize="0"/>
          <p:nvPr/>
        </p:nvPicPr>
        <p:blipFill>
          <a:blip r:embed="rId3">
            <a:alphaModFix/>
          </a:blip>
          <a:stretch>
            <a:fillRect/>
          </a:stretch>
        </p:blipFill>
        <p:spPr>
          <a:xfrm>
            <a:off x="0" y="598225"/>
            <a:ext cx="4262976" cy="2733625"/>
          </a:xfrm>
          <a:prstGeom prst="rect">
            <a:avLst/>
          </a:prstGeom>
          <a:noFill/>
          <a:ln>
            <a:noFill/>
          </a:ln>
        </p:spPr>
      </p:pic>
      <p:pic>
        <p:nvPicPr>
          <p:cNvPr id="174" name="Google Shape;174;p19"/>
          <p:cNvPicPr preferRelativeResize="0"/>
          <p:nvPr/>
        </p:nvPicPr>
        <p:blipFill>
          <a:blip r:embed="rId4">
            <a:alphaModFix/>
          </a:blip>
          <a:stretch>
            <a:fillRect/>
          </a:stretch>
        </p:blipFill>
        <p:spPr>
          <a:xfrm>
            <a:off x="4747625" y="598225"/>
            <a:ext cx="4396381" cy="2733625"/>
          </a:xfrm>
          <a:prstGeom prst="rect">
            <a:avLst/>
          </a:prstGeom>
          <a:noFill/>
          <a:ln>
            <a:noFill/>
          </a:ln>
        </p:spPr>
      </p:pic>
      <p:pic>
        <p:nvPicPr>
          <p:cNvPr id="175" name="Google Shape;175;p19"/>
          <p:cNvPicPr preferRelativeResize="0"/>
          <p:nvPr/>
        </p:nvPicPr>
        <p:blipFill>
          <a:blip r:embed="rId5">
            <a:alphaModFix/>
          </a:blip>
          <a:stretch>
            <a:fillRect/>
          </a:stretch>
        </p:blipFill>
        <p:spPr>
          <a:xfrm>
            <a:off x="2538450" y="2571750"/>
            <a:ext cx="4067099" cy="2581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2450175" y="198000"/>
            <a:ext cx="7038900" cy="914100"/>
          </a:xfrm>
          <a:prstGeom prst="rect">
            <a:avLst/>
          </a:prstGeom>
        </p:spPr>
        <p:txBody>
          <a:bodyPr anchorCtr="0" anchor="t" bIns="91425" lIns="91425" spcFirstLastPara="1" rIns="91425" wrap="square" tIns="91425">
            <a:normAutofit/>
          </a:bodyPr>
          <a:lstStyle/>
          <a:p>
            <a:pPr indent="0" lvl="0" marL="0" rtl="0" algn="l">
              <a:spcBef>
                <a:spcPts val="1400"/>
              </a:spcBef>
              <a:spcAft>
                <a:spcPts val="400"/>
              </a:spcAft>
              <a:buNone/>
            </a:pPr>
            <a:r>
              <a:rPr b="1" lang="en" sz="2000">
                <a:latin typeface="Arial"/>
                <a:ea typeface="Arial"/>
                <a:cs typeface="Arial"/>
                <a:sym typeface="Arial"/>
              </a:rPr>
              <a:t>Correlation Heatmap</a:t>
            </a:r>
            <a:endParaRPr sz="3100"/>
          </a:p>
        </p:txBody>
      </p:sp>
      <p:pic>
        <p:nvPicPr>
          <p:cNvPr id="181" name="Google Shape;181;p20"/>
          <p:cNvPicPr preferRelativeResize="0"/>
          <p:nvPr/>
        </p:nvPicPr>
        <p:blipFill>
          <a:blip r:embed="rId3">
            <a:alphaModFix/>
          </a:blip>
          <a:stretch>
            <a:fillRect/>
          </a:stretch>
        </p:blipFill>
        <p:spPr>
          <a:xfrm>
            <a:off x="1511675" y="717875"/>
            <a:ext cx="5372100" cy="3838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1"/>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rgbClr val="000000"/>
              </a:buClr>
              <a:buSzPct val="100000"/>
              <a:buFont typeface="Calibri"/>
              <a:buNone/>
            </a:pPr>
            <a:r>
              <a:rPr lang="en" sz="4400">
                <a:latin typeface="Calibri"/>
                <a:ea typeface="Calibri"/>
                <a:cs typeface="Calibri"/>
                <a:sym typeface="Calibri"/>
              </a:rPr>
              <a:t>Data Preprocessing</a:t>
            </a:r>
            <a:endParaRPr sz="4400">
              <a:latin typeface="Calibri"/>
              <a:ea typeface="Calibri"/>
              <a:cs typeface="Calibri"/>
              <a:sym typeface="Calibri"/>
            </a:endParaRPr>
          </a:p>
          <a:p>
            <a:pPr indent="0" lvl="0" marL="0" rtl="0" algn="l">
              <a:spcBef>
                <a:spcPts val="0"/>
              </a:spcBef>
              <a:spcAft>
                <a:spcPts val="0"/>
              </a:spcAft>
              <a:buNone/>
            </a:pPr>
            <a:r>
              <a:t/>
            </a:r>
            <a:endParaRPr/>
          </a:p>
        </p:txBody>
      </p:sp>
      <p:sp>
        <p:nvSpPr>
          <p:cNvPr id="187" name="Google Shape;187;p21"/>
          <p:cNvSpPr txBox="1"/>
          <p:nvPr>
            <p:ph idx="1" type="body"/>
          </p:nvPr>
        </p:nvSpPr>
        <p:spPr>
          <a:xfrm>
            <a:off x="177475" y="1502325"/>
            <a:ext cx="3403200" cy="2911200"/>
          </a:xfrm>
          <a:prstGeom prst="rect">
            <a:avLst/>
          </a:prstGeom>
        </p:spPr>
        <p:txBody>
          <a:bodyPr anchorCtr="0" anchor="t" bIns="91425" lIns="91425" spcFirstLastPara="1" rIns="91425" wrap="square" tIns="91425">
            <a:normAutofit/>
          </a:bodyPr>
          <a:lstStyle/>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Handled outliers using IQR method.</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Scaled numerical features using StandardScaler.</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Encoded categorical features with OneHotEncoder.</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Partitioned data into 80% training and 20% testing.</a:t>
            </a:r>
            <a:endParaRPr sz="3200">
              <a:latin typeface="Calibri"/>
              <a:ea typeface="Calibri"/>
              <a:cs typeface="Calibri"/>
              <a:sym typeface="Calibri"/>
            </a:endParaRPr>
          </a:p>
          <a:p>
            <a:pPr indent="0" lvl="0" marL="0" rtl="0" algn="l">
              <a:spcBef>
                <a:spcPts val="0"/>
              </a:spcBef>
              <a:spcAft>
                <a:spcPts val="1200"/>
              </a:spcAft>
              <a:buNone/>
            </a:pPr>
            <a:r>
              <a:t/>
            </a:r>
            <a:endParaRPr/>
          </a:p>
        </p:txBody>
      </p:sp>
      <p:pic>
        <p:nvPicPr>
          <p:cNvPr id="188" name="Google Shape;188;p21"/>
          <p:cNvPicPr preferRelativeResize="0"/>
          <p:nvPr/>
        </p:nvPicPr>
        <p:blipFill>
          <a:blip r:embed="rId3">
            <a:alphaModFix/>
          </a:blip>
          <a:stretch>
            <a:fillRect/>
          </a:stretch>
        </p:blipFill>
        <p:spPr>
          <a:xfrm>
            <a:off x="3471275" y="1307850"/>
            <a:ext cx="5426000" cy="3034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rgbClr val="000000"/>
              </a:buClr>
              <a:buSzPct val="100000"/>
              <a:buFont typeface="Calibri"/>
              <a:buNone/>
            </a:pPr>
            <a:r>
              <a:rPr lang="en" sz="4400">
                <a:latin typeface="Calibri"/>
                <a:ea typeface="Calibri"/>
                <a:cs typeface="Calibri"/>
                <a:sym typeface="Calibri"/>
              </a:rPr>
              <a:t>Model Selection</a:t>
            </a:r>
            <a:endParaRPr sz="4400">
              <a:latin typeface="Calibri"/>
              <a:ea typeface="Calibri"/>
              <a:cs typeface="Calibri"/>
              <a:sym typeface="Calibri"/>
            </a:endParaRPr>
          </a:p>
          <a:p>
            <a:pPr indent="0" lvl="0" marL="0" rtl="0" algn="l">
              <a:spcBef>
                <a:spcPts val="0"/>
              </a:spcBef>
              <a:spcAft>
                <a:spcPts val="0"/>
              </a:spcAft>
              <a:buNone/>
            </a:pPr>
            <a:r>
              <a:t/>
            </a:r>
            <a:endParaRPr/>
          </a:p>
        </p:txBody>
      </p:sp>
      <p:sp>
        <p:nvSpPr>
          <p:cNvPr id="194" name="Google Shape;194;p22"/>
          <p:cNvSpPr txBox="1"/>
          <p:nvPr>
            <p:ph idx="1" type="body"/>
          </p:nvPr>
        </p:nvSpPr>
        <p:spPr>
          <a:xfrm>
            <a:off x="253575" y="1567550"/>
            <a:ext cx="3403200" cy="29112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360"/>
              </a:spcBef>
              <a:spcAft>
                <a:spcPts val="0"/>
              </a:spcAft>
              <a:buNone/>
            </a:pPr>
            <a:r>
              <a:rPr lang="en" sz="1800">
                <a:latin typeface="Calibri"/>
                <a:ea typeface="Calibri"/>
                <a:cs typeface="Calibri"/>
                <a:sym typeface="Calibri"/>
              </a:rPr>
              <a:t>Models Used:</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1. Linear Regression</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2. Random Forest</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Why These Models:</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 Linear Regression: Simple and interpretable.</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 Random Forest: Handles non-linear relationships and reduces overfitting.</a:t>
            </a:r>
            <a:endParaRPr sz="3200">
              <a:latin typeface="Calibri"/>
              <a:ea typeface="Calibri"/>
              <a:cs typeface="Calibri"/>
              <a:sym typeface="Calibri"/>
            </a:endParaRPr>
          </a:p>
          <a:p>
            <a:pPr indent="0" lvl="0" marL="0" rtl="0" algn="l">
              <a:spcBef>
                <a:spcPts val="0"/>
              </a:spcBef>
              <a:spcAft>
                <a:spcPts val="1200"/>
              </a:spcAft>
              <a:buNone/>
            </a:pPr>
            <a:r>
              <a:t/>
            </a:r>
            <a:endParaRPr/>
          </a:p>
        </p:txBody>
      </p:sp>
      <p:pic>
        <p:nvPicPr>
          <p:cNvPr id="195" name="Google Shape;195;p22"/>
          <p:cNvPicPr preferRelativeResize="0"/>
          <p:nvPr/>
        </p:nvPicPr>
        <p:blipFill>
          <a:blip r:embed="rId3">
            <a:alphaModFix/>
          </a:blip>
          <a:stretch>
            <a:fillRect/>
          </a:stretch>
        </p:blipFill>
        <p:spPr>
          <a:xfrm>
            <a:off x="3991000" y="1174550"/>
            <a:ext cx="4690425" cy="37884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3"/>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rgbClr val="000000"/>
              </a:buClr>
              <a:buSzPct val="100000"/>
              <a:buFont typeface="Calibri"/>
              <a:buNone/>
            </a:pPr>
            <a:r>
              <a:rPr lang="en" sz="4400">
                <a:latin typeface="Calibri"/>
                <a:ea typeface="Calibri"/>
                <a:cs typeface="Calibri"/>
                <a:sym typeface="Calibri"/>
              </a:rPr>
              <a:t>Model Evaluation</a:t>
            </a:r>
            <a:endParaRPr sz="4400">
              <a:latin typeface="Calibri"/>
              <a:ea typeface="Calibri"/>
              <a:cs typeface="Calibri"/>
              <a:sym typeface="Calibri"/>
            </a:endParaRPr>
          </a:p>
          <a:p>
            <a:pPr indent="0" lvl="0" marL="0" rtl="0" algn="l">
              <a:spcBef>
                <a:spcPts val="0"/>
              </a:spcBef>
              <a:spcAft>
                <a:spcPts val="0"/>
              </a:spcAft>
              <a:buNone/>
            </a:pPr>
            <a:r>
              <a:t/>
            </a:r>
            <a:endParaRPr sz="4400">
              <a:latin typeface="Calibri"/>
              <a:ea typeface="Calibri"/>
              <a:cs typeface="Calibri"/>
              <a:sym typeface="Calibri"/>
            </a:endParaRPr>
          </a:p>
        </p:txBody>
      </p:sp>
      <p:sp>
        <p:nvSpPr>
          <p:cNvPr id="201" name="Google Shape;201;p23"/>
          <p:cNvSpPr txBox="1"/>
          <p:nvPr>
            <p:ph idx="1" type="body"/>
          </p:nvPr>
        </p:nvSpPr>
        <p:spPr>
          <a:xfrm>
            <a:off x="329700" y="1524075"/>
            <a:ext cx="3403200" cy="2911200"/>
          </a:xfrm>
          <a:prstGeom prst="rect">
            <a:avLst/>
          </a:prstGeom>
        </p:spPr>
        <p:txBody>
          <a:bodyPr anchorCtr="0" anchor="t" bIns="91425" lIns="91425" spcFirstLastPara="1" rIns="91425" wrap="square" tIns="91425">
            <a:normAutofit fontScale="92500" lnSpcReduction="10000"/>
          </a:bodyPr>
          <a:lstStyle/>
          <a:p>
            <a:pPr indent="-334327" lvl="0" marL="342900" rtl="0" algn="l">
              <a:lnSpc>
                <a:spcPct val="100000"/>
              </a:lnSpc>
              <a:spcBef>
                <a:spcPts val="360"/>
              </a:spcBef>
              <a:spcAft>
                <a:spcPts val="0"/>
              </a:spcAft>
              <a:buClr>
                <a:schemeClr val="lt1"/>
              </a:buClr>
              <a:buSzPct val="100000"/>
              <a:buFont typeface="Arial"/>
              <a:buChar char="•"/>
            </a:pPr>
            <a:r>
              <a:rPr lang="en" sz="1800">
                <a:latin typeface="Calibri"/>
                <a:ea typeface="Calibri"/>
                <a:cs typeface="Calibri"/>
                <a:sym typeface="Calibri"/>
              </a:rPr>
              <a:t>Metrics Used:</a:t>
            </a:r>
            <a:endParaRPr sz="3200">
              <a:latin typeface="Calibri"/>
              <a:ea typeface="Calibri"/>
              <a:cs typeface="Calibri"/>
              <a:sym typeface="Calibri"/>
            </a:endParaRPr>
          </a:p>
          <a:p>
            <a:pPr indent="-334327" lvl="0" marL="342900" rtl="0" algn="l">
              <a:lnSpc>
                <a:spcPct val="100000"/>
              </a:lnSpc>
              <a:spcBef>
                <a:spcPts val="360"/>
              </a:spcBef>
              <a:spcAft>
                <a:spcPts val="0"/>
              </a:spcAft>
              <a:buClr>
                <a:schemeClr val="lt1"/>
              </a:buClr>
              <a:buSzPct val="100000"/>
              <a:buFont typeface="Arial"/>
              <a:buChar char="•"/>
            </a:pPr>
            <a:r>
              <a:rPr lang="en" sz="1800">
                <a:latin typeface="Calibri"/>
                <a:ea typeface="Calibri"/>
                <a:cs typeface="Calibri"/>
                <a:sym typeface="Calibri"/>
              </a:rPr>
              <a:t>R² Score: Measures variance explained by the model.</a:t>
            </a:r>
            <a:endParaRPr sz="3200">
              <a:latin typeface="Calibri"/>
              <a:ea typeface="Calibri"/>
              <a:cs typeface="Calibri"/>
              <a:sym typeface="Calibri"/>
            </a:endParaRPr>
          </a:p>
          <a:p>
            <a:pPr indent="-334327" lvl="0" marL="342900" rtl="0" algn="l">
              <a:lnSpc>
                <a:spcPct val="100000"/>
              </a:lnSpc>
              <a:spcBef>
                <a:spcPts val="360"/>
              </a:spcBef>
              <a:spcAft>
                <a:spcPts val="0"/>
              </a:spcAft>
              <a:buClr>
                <a:schemeClr val="lt1"/>
              </a:buClr>
              <a:buSzPct val="100000"/>
              <a:buFont typeface="Arial"/>
              <a:buChar char="•"/>
            </a:pPr>
            <a:r>
              <a:rPr lang="en" sz="1800">
                <a:latin typeface="Calibri"/>
                <a:ea typeface="Calibri"/>
                <a:cs typeface="Calibri"/>
                <a:sym typeface="Calibri"/>
              </a:rPr>
              <a:t>Mean Absolute Error (MAE): Indicates average prediction error.</a:t>
            </a:r>
            <a:endParaRPr sz="3200">
              <a:latin typeface="Calibri"/>
              <a:ea typeface="Calibri"/>
              <a:cs typeface="Calibri"/>
              <a:sym typeface="Calibri"/>
            </a:endParaRPr>
          </a:p>
          <a:p>
            <a:pPr indent="-334327" lvl="0" marL="342900" rtl="0" algn="l">
              <a:lnSpc>
                <a:spcPct val="100000"/>
              </a:lnSpc>
              <a:spcBef>
                <a:spcPts val="360"/>
              </a:spcBef>
              <a:spcAft>
                <a:spcPts val="0"/>
              </a:spcAft>
              <a:buClr>
                <a:schemeClr val="lt1"/>
              </a:buClr>
              <a:buSzPct val="100000"/>
              <a:buFont typeface="Arial"/>
              <a:buChar char="•"/>
            </a:pPr>
            <a:r>
              <a:rPr lang="en" sz="1800">
                <a:latin typeface="Calibri"/>
                <a:ea typeface="Calibri"/>
                <a:cs typeface="Calibri"/>
                <a:sym typeface="Calibri"/>
              </a:rPr>
              <a:t>Mean Squared Error (MSE): Penalizes large errors more heavily.</a:t>
            </a:r>
            <a:endParaRPr sz="3200">
              <a:latin typeface="Calibri"/>
              <a:ea typeface="Calibri"/>
              <a:cs typeface="Calibri"/>
              <a:sym typeface="Calibri"/>
            </a:endParaRPr>
          </a:p>
          <a:p>
            <a:pPr indent="-334327" lvl="0" marL="342900" rtl="0" algn="l">
              <a:lnSpc>
                <a:spcPct val="100000"/>
              </a:lnSpc>
              <a:spcBef>
                <a:spcPts val="360"/>
              </a:spcBef>
              <a:spcAft>
                <a:spcPts val="0"/>
              </a:spcAft>
              <a:buClr>
                <a:schemeClr val="lt1"/>
              </a:buClr>
              <a:buSzPct val="100000"/>
              <a:buFont typeface="Arial"/>
              <a:buChar char="•"/>
            </a:pPr>
            <a:r>
              <a:rPr lang="en" sz="1800">
                <a:latin typeface="Calibri"/>
                <a:ea typeface="Calibri"/>
                <a:cs typeface="Calibri"/>
                <a:sym typeface="Calibri"/>
              </a:rPr>
              <a:t>Performance: Random Forest outperformed Linear Regression.</a:t>
            </a:r>
            <a:endParaRPr/>
          </a:p>
        </p:txBody>
      </p:sp>
      <p:pic>
        <p:nvPicPr>
          <p:cNvPr id="202" name="Google Shape;202;p23"/>
          <p:cNvPicPr preferRelativeResize="0"/>
          <p:nvPr/>
        </p:nvPicPr>
        <p:blipFill>
          <a:blip r:embed="rId3">
            <a:alphaModFix/>
          </a:blip>
          <a:stretch>
            <a:fillRect/>
          </a:stretch>
        </p:blipFill>
        <p:spPr>
          <a:xfrm>
            <a:off x="3911900" y="1307850"/>
            <a:ext cx="5011526" cy="3285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Clr>
                <a:srgbClr val="000000"/>
              </a:buClr>
              <a:buSzPts val="4400"/>
              <a:buFont typeface="Calibri"/>
              <a:buNone/>
            </a:pPr>
            <a:r>
              <a:rPr lang="en" sz="4400">
                <a:latin typeface="Calibri"/>
                <a:ea typeface="Calibri"/>
                <a:cs typeface="Calibri"/>
                <a:sym typeface="Calibri"/>
              </a:rPr>
              <a:t>Learning Curve</a:t>
            </a:r>
            <a:endParaRPr/>
          </a:p>
        </p:txBody>
      </p:sp>
      <p:sp>
        <p:nvSpPr>
          <p:cNvPr id="208" name="Google Shape;208;p24"/>
          <p:cNvSpPr txBox="1"/>
          <p:nvPr>
            <p:ph idx="1" type="body"/>
          </p:nvPr>
        </p:nvSpPr>
        <p:spPr>
          <a:xfrm>
            <a:off x="0" y="1600175"/>
            <a:ext cx="3403200" cy="2911200"/>
          </a:xfrm>
          <a:prstGeom prst="rect">
            <a:avLst/>
          </a:prstGeom>
        </p:spPr>
        <p:txBody>
          <a:bodyPr anchorCtr="0" anchor="t" bIns="91425" lIns="91425" spcFirstLastPara="1" rIns="91425" wrap="square" tIns="91425">
            <a:normAutofit/>
          </a:bodyPr>
          <a:lstStyle/>
          <a:p>
            <a:pPr indent="0" lvl="0" marL="0" rtl="0" algn="l">
              <a:lnSpc>
                <a:spcPct val="100000"/>
              </a:lnSpc>
              <a:spcBef>
                <a:spcPts val="360"/>
              </a:spcBef>
              <a:spcAft>
                <a:spcPts val="0"/>
              </a:spcAft>
              <a:buNone/>
            </a:pPr>
            <a:r>
              <a:rPr lang="en" sz="1800">
                <a:latin typeface="Calibri"/>
                <a:ea typeface="Calibri"/>
                <a:cs typeface="Calibri"/>
                <a:sym typeface="Calibri"/>
              </a:rPr>
              <a:t>Insight:</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High training score, slightly lower validation score indicates mild overfitting.</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Model generalization improves as training data increases.</a:t>
            </a:r>
            <a:endParaRPr sz="3200">
              <a:latin typeface="Calibri"/>
              <a:ea typeface="Calibri"/>
              <a:cs typeface="Calibri"/>
              <a:sym typeface="Calibri"/>
            </a:endParaRPr>
          </a:p>
          <a:p>
            <a:pPr indent="0" lvl="0" marL="0" rtl="0" algn="l">
              <a:spcBef>
                <a:spcPts val="0"/>
              </a:spcBef>
              <a:spcAft>
                <a:spcPts val="1200"/>
              </a:spcAft>
              <a:buNone/>
            </a:pPr>
            <a:r>
              <a:t/>
            </a:r>
            <a:endParaRPr/>
          </a:p>
        </p:txBody>
      </p:sp>
      <p:pic>
        <p:nvPicPr>
          <p:cNvPr id="209" name="Google Shape;209;p24"/>
          <p:cNvPicPr preferRelativeResize="0"/>
          <p:nvPr/>
        </p:nvPicPr>
        <p:blipFill>
          <a:blip r:embed="rId3">
            <a:alphaModFix/>
          </a:blip>
          <a:stretch>
            <a:fillRect/>
          </a:stretch>
        </p:blipFill>
        <p:spPr>
          <a:xfrm>
            <a:off x="3120875" y="1656350"/>
            <a:ext cx="5900276" cy="2798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25"/>
          <p:cNvPicPr preferRelativeResize="0"/>
          <p:nvPr/>
        </p:nvPicPr>
        <p:blipFill>
          <a:blip r:embed="rId3">
            <a:alphaModFix/>
          </a:blip>
          <a:stretch>
            <a:fillRect/>
          </a:stretch>
        </p:blipFill>
        <p:spPr>
          <a:xfrm>
            <a:off x="804850" y="152400"/>
            <a:ext cx="7396475" cy="4658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rgbClr val="000000"/>
              </a:buClr>
              <a:buSzPct val="100000"/>
              <a:buFont typeface="Calibri"/>
              <a:buNone/>
            </a:pPr>
            <a:r>
              <a:rPr lang="en" sz="4400">
                <a:latin typeface="Calibri"/>
                <a:ea typeface="Calibri"/>
                <a:cs typeface="Calibri"/>
                <a:sym typeface="Calibri"/>
              </a:rPr>
              <a:t>Challenges and Solutions</a:t>
            </a:r>
            <a:endParaRPr sz="4400">
              <a:latin typeface="Calibri"/>
              <a:ea typeface="Calibri"/>
              <a:cs typeface="Calibri"/>
              <a:sym typeface="Calibri"/>
            </a:endParaRPr>
          </a:p>
          <a:p>
            <a:pPr indent="0" lvl="0" marL="0" rtl="0" algn="l">
              <a:spcBef>
                <a:spcPts val="0"/>
              </a:spcBef>
              <a:spcAft>
                <a:spcPts val="0"/>
              </a:spcAft>
              <a:buNone/>
            </a:pPr>
            <a:r>
              <a:t/>
            </a:r>
            <a:endParaRPr/>
          </a:p>
        </p:txBody>
      </p:sp>
      <p:sp>
        <p:nvSpPr>
          <p:cNvPr id="220" name="Google Shape;220;p26"/>
          <p:cNvSpPr txBox="1"/>
          <p:nvPr>
            <p:ph idx="1" type="body"/>
          </p:nvPr>
        </p:nvSpPr>
        <p:spPr>
          <a:xfrm>
            <a:off x="1221375" y="1611050"/>
            <a:ext cx="3403200" cy="2911200"/>
          </a:xfrm>
          <a:prstGeom prst="rect">
            <a:avLst/>
          </a:prstGeom>
        </p:spPr>
        <p:txBody>
          <a:bodyPr anchorCtr="0" anchor="t" bIns="91425" lIns="91425" spcFirstLastPara="1" rIns="91425" wrap="square" tIns="91425">
            <a:normAutofit/>
          </a:bodyPr>
          <a:lstStyle/>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Challenges:</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Outliers in charges and BMI.</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Overfitting during model training.</a:t>
            </a:r>
            <a:endParaRPr sz="3200">
              <a:latin typeface="Calibri"/>
              <a:ea typeface="Calibri"/>
              <a:cs typeface="Calibri"/>
              <a:sym typeface="Calibri"/>
            </a:endParaRPr>
          </a:p>
          <a:p>
            <a:pPr indent="0" lvl="0" marL="0" rtl="0" algn="l">
              <a:spcBef>
                <a:spcPts val="0"/>
              </a:spcBef>
              <a:spcAft>
                <a:spcPts val="1200"/>
              </a:spcAft>
              <a:buNone/>
            </a:pPr>
            <a:r>
              <a:t/>
            </a:r>
            <a:endParaRPr/>
          </a:p>
        </p:txBody>
      </p:sp>
      <p:sp>
        <p:nvSpPr>
          <p:cNvPr id="221" name="Google Shape;221;p26"/>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Solutions:</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Addressed outliers using IQR method.</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Hyperparameter tuning with Grid Search to improve generalization.</a:t>
            </a:r>
            <a:endParaRPr sz="3200">
              <a:latin typeface="Calibri"/>
              <a:ea typeface="Calibri"/>
              <a:cs typeface="Calibri"/>
              <a:sym typeface="Calibri"/>
            </a:endParaRPr>
          </a:p>
          <a:p>
            <a:pPr indent="0" lvl="0" marL="0" rtl="0" algn="l">
              <a:spcBef>
                <a:spcPts val="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Clr>
                <a:srgbClr val="000000"/>
              </a:buClr>
              <a:buSzPts val="4400"/>
              <a:buFont typeface="Calibri"/>
              <a:buNone/>
            </a:pPr>
            <a:r>
              <a:rPr lang="en" sz="4400">
                <a:latin typeface="Calibri"/>
                <a:ea typeface="Calibri"/>
                <a:cs typeface="Calibri"/>
                <a:sym typeface="Calibri"/>
              </a:rPr>
              <a:t>Recommendations</a:t>
            </a:r>
            <a:endParaRPr/>
          </a:p>
        </p:txBody>
      </p:sp>
      <p:sp>
        <p:nvSpPr>
          <p:cNvPr id="227" name="Google Shape;227;p27"/>
          <p:cNvSpPr txBox="1"/>
          <p:nvPr>
            <p:ph idx="1" type="body"/>
          </p:nvPr>
        </p:nvSpPr>
        <p:spPr>
          <a:xfrm>
            <a:off x="1783650" y="1426175"/>
            <a:ext cx="6066600" cy="2911200"/>
          </a:xfrm>
          <a:prstGeom prst="rect">
            <a:avLst/>
          </a:prstGeom>
        </p:spPr>
        <p:txBody>
          <a:bodyPr anchorCtr="0" anchor="t" bIns="91425" lIns="91425" spcFirstLastPara="1" rIns="91425" wrap="square" tIns="91425">
            <a:normAutofit/>
          </a:bodyPr>
          <a:lstStyle/>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1. Focus on lifestyle factors: Higher BMI and smokers incur higher costs.</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2. Adjust premiums for older individuals while promoting healthier habits.</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3. Use insights on key predictors (smoker, BMI, age) for risk assessment.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8"/>
          <p:cNvSpPr txBox="1"/>
          <p:nvPr>
            <p:ph type="title"/>
          </p:nvPr>
        </p:nvSpPr>
        <p:spPr>
          <a:xfrm>
            <a:off x="1167025"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Clr>
                <a:srgbClr val="000000"/>
              </a:buClr>
              <a:buSzPts val="4400"/>
              <a:buFont typeface="Calibri"/>
              <a:buNone/>
            </a:pPr>
            <a:r>
              <a:rPr lang="en" sz="4400">
                <a:latin typeface="Calibri"/>
                <a:ea typeface="Calibri"/>
                <a:cs typeface="Calibri"/>
                <a:sym typeface="Calibri"/>
              </a:rPr>
              <a:t>Future Work</a:t>
            </a:r>
            <a:endParaRPr/>
          </a:p>
        </p:txBody>
      </p:sp>
      <p:sp>
        <p:nvSpPr>
          <p:cNvPr id="233" name="Google Shape;233;p28"/>
          <p:cNvSpPr txBox="1"/>
          <p:nvPr>
            <p:ph idx="1" type="body"/>
          </p:nvPr>
        </p:nvSpPr>
        <p:spPr>
          <a:xfrm>
            <a:off x="1609675" y="1589300"/>
            <a:ext cx="6153600" cy="2911200"/>
          </a:xfrm>
          <a:prstGeom prst="rect">
            <a:avLst/>
          </a:prstGeom>
        </p:spPr>
        <p:txBody>
          <a:bodyPr anchorCtr="0" anchor="t" bIns="91425" lIns="91425" spcFirstLastPara="1" rIns="91425" wrap="square" tIns="91425">
            <a:normAutofit/>
          </a:bodyPr>
          <a:lstStyle/>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1. Incorporate additional features like diet, exercise, and medical history.</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2. Explore advanced models like XGBoost or Neural Networks.</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3. Automate hyperparameter tuning for improved scalability and performance.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9"/>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rgbClr val="000000"/>
              </a:buClr>
              <a:buSzPct val="100000"/>
              <a:buFont typeface="Calibri"/>
              <a:buNone/>
            </a:pPr>
            <a:r>
              <a:rPr lang="en" sz="4400">
                <a:latin typeface="Calibri"/>
                <a:ea typeface="Calibri"/>
                <a:cs typeface="Calibri"/>
                <a:sym typeface="Calibri"/>
              </a:rPr>
              <a:t>Conclusion</a:t>
            </a:r>
            <a:endParaRPr sz="4400">
              <a:latin typeface="Calibri"/>
              <a:ea typeface="Calibri"/>
              <a:cs typeface="Calibri"/>
              <a:sym typeface="Calibri"/>
            </a:endParaRPr>
          </a:p>
          <a:p>
            <a:pPr indent="0" lvl="0" marL="0" rtl="0" algn="l">
              <a:spcBef>
                <a:spcPts val="0"/>
              </a:spcBef>
              <a:spcAft>
                <a:spcPts val="0"/>
              </a:spcAft>
              <a:buNone/>
            </a:pPr>
            <a:r>
              <a:t/>
            </a:r>
            <a:endParaRPr/>
          </a:p>
        </p:txBody>
      </p:sp>
      <p:sp>
        <p:nvSpPr>
          <p:cNvPr id="239" name="Google Shape;239;p29"/>
          <p:cNvSpPr txBox="1"/>
          <p:nvPr>
            <p:ph idx="1" type="body"/>
          </p:nvPr>
        </p:nvSpPr>
        <p:spPr>
          <a:xfrm>
            <a:off x="1297500" y="1567550"/>
            <a:ext cx="6642900" cy="2911200"/>
          </a:xfrm>
          <a:prstGeom prst="rect">
            <a:avLst/>
          </a:prstGeom>
        </p:spPr>
        <p:txBody>
          <a:bodyPr anchorCtr="0" anchor="t" bIns="91425" lIns="91425" spcFirstLastPara="1" rIns="91425" wrap="square" tIns="91425">
            <a:normAutofit/>
          </a:bodyPr>
          <a:lstStyle/>
          <a:p>
            <a:pPr indent="0" lvl="0" marL="0" rtl="0" algn="l">
              <a:lnSpc>
                <a:spcPct val="100000"/>
              </a:lnSpc>
              <a:spcBef>
                <a:spcPts val="360"/>
              </a:spcBef>
              <a:spcAft>
                <a:spcPts val="0"/>
              </a:spcAft>
              <a:buNone/>
            </a:pPr>
            <a:r>
              <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Identified key predictors influencing insurance costs.</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Built an accurate Random Forest model.</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Provided actionable recommendations based on findings.</a:t>
            </a:r>
            <a:endParaRPr sz="3200">
              <a:latin typeface="Calibri"/>
              <a:ea typeface="Calibri"/>
              <a:cs typeface="Calibri"/>
              <a:sym typeface="Calibri"/>
            </a:endParaRPr>
          </a:p>
          <a:p>
            <a:pPr indent="-342900" lvl="0" marL="342900" rtl="0" algn="l">
              <a:lnSpc>
                <a:spcPct val="100000"/>
              </a:lnSpc>
              <a:spcBef>
                <a:spcPts val="360"/>
              </a:spcBef>
              <a:spcAft>
                <a:spcPts val="0"/>
              </a:spcAft>
              <a:buClr>
                <a:schemeClr val="lt1"/>
              </a:buClr>
              <a:buSzPts val="1800"/>
              <a:buFont typeface="Arial"/>
              <a:buChar char="•"/>
            </a:pPr>
            <a:r>
              <a:rPr lang="en" sz="1800">
                <a:latin typeface="Calibri"/>
                <a:ea typeface="Calibri"/>
                <a:cs typeface="Calibri"/>
                <a:sym typeface="Calibri"/>
              </a:rPr>
              <a:t>Impact: Insights can help insurers refine pricing strategies and individuals make healthier choices.</a:t>
            </a:r>
            <a:endParaRPr sz="3200">
              <a:latin typeface="Calibri"/>
              <a:ea typeface="Calibri"/>
              <a:cs typeface="Calibri"/>
              <a:sym typeface="Calibri"/>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